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"/>
      <p:regular r:id="rId20"/>
      <p:bold r:id="rId21"/>
      <p:italic r:id="rId22"/>
      <p:boldItalic r:id="rId23"/>
    </p:embeddedFont>
    <p:embeddedFont>
      <p:font typeface="Orbitron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4E5709-F787-43BE-B9B3-DBB270A72D56}">
  <a:tblStyle styleId="{CA4E5709-F787-43BE-B9B3-DBB270A72D5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Orbitron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Orbitron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10" Type="http://schemas.openxmlformats.org/officeDocument/2006/relationships/image" Target="../media/image10.png"/><Relationship Id="rId9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31.png"/><Relationship Id="rId7" Type="http://schemas.openxmlformats.org/officeDocument/2006/relationships/image" Target="../media/image12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5" Type="http://schemas.openxmlformats.org/officeDocument/2006/relationships/image" Target="../media/image13.png"/><Relationship Id="rId6" Type="http://schemas.openxmlformats.org/officeDocument/2006/relationships/image" Target="../media/image20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Relationship Id="rId5" Type="http://schemas.openxmlformats.org/officeDocument/2006/relationships/image" Target="../media/image34.png"/><Relationship Id="rId6" Type="http://schemas.openxmlformats.org/officeDocument/2006/relationships/image" Target="../media/image27.png"/><Relationship Id="rId7" Type="http://schemas.openxmlformats.org/officeDocument/2006/relationships/image" Target="../media/image23.png"/><Relationship Id="rId8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36.png"/><Relationship Id="rId5" Type="http://schemas.openxmlformats.org/officeDocument/2006/relationships/image" Target="../media/image38.png"/><Relationship Id="rId6" Type="http://schemas.openxmlformats.org/officeDocument/2006/relationships/image" Target="../media/image33.png"/><Relationship Id="rId7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0" y="4714875"/>
            <a:ext cx="38100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595437" y="1085850"/>
            <a:ext cx="9001125" cy="1743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ONDE ESTAMOS GANHANDO, ONDE ESTAMOS PERDENDO E ONDE O RISCO PODE EXPLODIR?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143500" y="3019425"/>
            <a:ext cx="1905000" cy="28575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414712" y="3381375"/>
            <a:ext cx="536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Análise Competitiva Banco Shield vs Hidra | 202</a:t>
            </a:r>
            <a:r>
              <a:rPr lang="en-US" sz="18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191000" y="5086350"/>
            <a:ext cx="3810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Diretoria Executiva | Unidade de Inteligência Shield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92510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571500"/>
            <a:ext cx="114014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O CENÁRIO DE GUERRA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571500"/>
            <a:ext cx="47625" cy="36567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2430660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Hidra avança silenciosamente. A diretoria não tinha visibilidade real dos riscos até o momento.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002035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3230760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5252"/>
                </a:solidFill>
                <a:latin typeface="Inter"/>
                <a:ea typeface="Inter"/>
                <a:cs typeface="Inter"/>
                <a:sym typeface="Inter"/>
              </a:rPr>
              <a:t>DADOS INCONSISTENTES: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Baixa confiança nas métricas — grafias erradas, campos nulos e FKs quebradas.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3935610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5252"/>
                </a:solidFill>
                <a:latin typeface="Inter"/>
                <a:ea typeface="Inter"/>
                <a:cs typeface="Inter"/>
                <a:sym typeface="Inter"/>
              </a:rPr>
              <a:t>CEGUEIRA TÁTICA: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Sem painel padronizado para monitorar volume, share e risco em tempo real.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4640460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5252"/>
                </a:solidFill>
                <a:latin typeface="Inter"/>
                <a:ea typeface="Inter"/>
                <a:cs typeface="Inter"/>
                <a:sym typeface="Inter"/>
              </a:rPr>
              <a:t>DECISÃO NO ESCURO: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Perguntas estratégicas básicas sem resposta rápida e confiável.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2073"/>
            <a:ext cx="355595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302073"/>
            <a:ext cx="355595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302073"/>
            <a:ext cx="355595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07148"/>
            <a:ext cx="261937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81375" y="4807148"/>
            <a:ext cx="261937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1250" y="4807148"/>
            <a:ext cx="261937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01125" y="4807148"/>
            <a:ext cx="2619375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62000" y="571500"/>
            <a:ext cx="114014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SOLUÇÃO DE ENGENHARIA: MEDALLION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571500"/>
            <a:ext cx="47625" cy="36567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1759148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"Para garantir que os números sejam 100% confiáveis, construímos um pipeline de dados em 3 camadas:"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82638" y="3245048"/>
            <a:ext cx="3133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A623"/>
                </a:solidFill>
                <a:latin typeface="Orbitron"/>
                <a:ea typeface="Orbitron"/>
                <a:cs typeface="Orbitron"/>
                <a:sym typeface="Orbitron"/>
              </a:rPr>
              <a:t>BRONZE LAYER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57250" y="3606998"/>
            <a:ext cx="2984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Ingestão bruta dos CSVs. A fonte original com rastreabilidade total (_ingested_at).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529089" y="3245048"/>
            <a:ext cx="3133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SILVER LAYER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603700" y="3606998"/>
            <a:ext cx="2984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Limpeza e validação via rules.json. Padronização automática de nomes e domínios.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275539" y="3245048"/>
            <a:ext cx="3133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A623"/>
                </a:solidFill>
                <a:latin typeface="Orbitron"/>
                <a:ea typeface="Orbitron"/>
                <a:cs typeface="Orbitron"/>
                <a:sym typeface="Orbitron"/>
              </a:rPr>
              <a:t>GOLD LAYER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350150" y="3606998"/>
            <a:ext cx="2984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Agregações analíticas para Dashboard via DuckDB. Exportação pronta para decisão.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62000" y="4997648"/>
            <a:ext cx="2238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CONTRATOS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62000" y="5207198"/>
            <a:ext cx="22383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6.000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3571875" y="4997648"/>
            <a:ext cx="2238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VÁLIDOS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3571875" y="5207198"/>
            <a:ext cx="22383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5.908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381750" y="4997648"/>
            <a:ext cx="2238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QUALIDADE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381750" y="5207198"/>
            <a:ext cx="22383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98,5%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9191625" y="4997648"/>
            <a:ext cx="2238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CORRIGIDOS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9191625" y="5207198"/>
            <a:ext cx="22383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A623"/>
                </a:solidFill>
                <a:latin typeface="Orbitron"/>
                <a:ea typeface="Orbitron"/>
                <a:cs typeface="Orbitron"/>
                <a:sym typeface="Orbitron"/>
              </a:rPr>
              <a:t>20</a:t>
            </a:r>
            <a:endParaRPr/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82713" y="2625923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81538" y="2625923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51801" y="2625923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5045273"/>
            <a:ext cx="533400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762000" y="571500"/>
            <a:ext cx="114014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AUDITORIA E QUALIDADE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571500" y="571500"/>
            <a:ext cx="47625" cy="36567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4592835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"Hoje, temos segurança para tomar decisões baseadas nesses números."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6286500" y="1892498"/>
            <a:ext cx="5334000" cy="2962275"/>
          </a:xfrm>
          <a:prstGeom prst="roundRect">
            <a:avLst>
              <a:gd fmla="val 0" name="adj"/>
            </a:avLst>
          </a:prstGeom>
          <a:solidFill>
            <a:srgbClr val="1E2235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5" name="Google Shape;145;p16"/>
          <p:cNvGraphicFramePr/>
          <p:nvPr/>
        </p:nvGraphicFramePr>
        <p:xfrm>
          <a:off x="6286500" y="18924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{CA4E5709-F787-43BE-B9B3-DBB270A72D56}</a:tableStyleId>
              </a:tblPr>
              <a:tblGrid>
                <a:gridCol w="2775200"/>
                <a:gridCol w="1367275"/>
                <a:gridCol w="1191525"/>
              </a:tblGrid>
              <a:tr h="49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235"/>
                          </a:solidFill>
                          <a:latin typeface="Orbitron"/>
                          <a:ea typeface="Orbitron"/>
                          <a:cs typeface="Orbitron"/>
                          <a:sym typeface="Orbitron"/>
                        </a:rPr>
                        <a:t>TIPO DE ERRO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235"/>
                          </a:solidFill>
                          <a:latin typeface="Orbitron"/>
                          <a:ea typeface="Orbitron"/>
                          <a:cs typeface="Orbitron"/>
                          <a:sym typeface="Orbitron"/>
                        </a:rPr>
                        <a:t>SHIELD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235"/>
                          </a:solidFill>
                          <a:latin typeface="Orbitron"/>
                          <a:ea typeface="Orbitron"/>
                          <a:cs typeface="Orbitron"/>
                          <a:sym typeface="Orbitron"/>
                        </a:rPr>
                        <a:t>HIDRA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E5FF"/>
                    </a:solidFill>
                  </a:tcPr>
                </a:tc>
              </a:tr>
              <a:tr h="49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IDs duplicados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Período inválido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1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1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150"/>
                    </a:solidFill>
                  </a:tcPr>
                </a:tc>
              </a:tr>
              <a:tr h="49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FK produto inválida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Valores negativos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1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1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150"/>
                    </a:solidFill>
                  </a:tcPr>
                </a:tc>
              </a:tr>
              <a:tr h="493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% INVÁLIDOS TOTAL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1,48%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1,59%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6" name="Google Shape;146;p16"/>
          <p:cNvSpPr txBox="1"/>
          <p:nvPr/>
        </p:nvSpPr>
        <p:spPr>
          <a:xfrm>
            <a:off x="571500" y="2478285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CORREÇÃO: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20 grafias inválidas do banco normalizadas automaticamente por regex.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571500" y="3183135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CONTROLE: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Regras externalizadas para integridade referencial e domínios obrigatórios.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571500" y="3887985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ALERTA: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514 contratos com saldo em aberto superior ao valor financiado.</a:t>
            </a:r>
            <a:endParaRPr/>
          </a:p>
        </p:txBody>
      </p:sp>
      <p:pic>
        <p:nvPicPr>
          <p:cNvPr descr="image.png" id="149" name="Google Shape;14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75" y="5302448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/>
          <p:nvPr/>
        </p:nvSpPr>
        <p:spPr>
          <a:xfrm>
            <a:off x="6286500" y="2859285"/>
            <a:ext cx="2775198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9061698" y="2859285"/>
            <a:ext cx="1367283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10428982" y="2859285"/>
            <a:ext cx="1191517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6286500" y="3354585"/>
            <a:ext cx="2775198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9061698" y="3354585"/>
            <a:ext cx="1367283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10428982" y="3354585"/>
            <a:ext cx="1191517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6286500" y="3849885"/>
            <a:ext cx="2775198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9061698" y="3849885"/>
            <a:ext cx="1367283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10428982" y="3849885"/>
            <a:ext cx="1191517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286500" y="4345185"/>
            <a:ext cx="2775198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9061698" y="4345185"/>
            <a:ext cx="1367283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10428982" y="4345185"/>
            <a:ext cx="1191517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6286500" y="4840485"/>
            <a:ext cx="2775198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9061698" y="4840485"/>
            <a:ext cx="1367283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10428982" y="4840485"/>
            <a:ext cx="1191517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9110"/>
            <a:ext cx="261937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1375" y="1459110"/>
            <a:ext cx="261937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1459110"/>
            <a:ext cx="261937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1125" y="1459110"/>
            <a:ext cx="2619375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762000" y="571500"/>
            <a:ext cx="114014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PANORAMA EXECUTIVO: LIDERANÇA SOB AMEAÇA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571500" y="571500"/>
            <a:ext cx="47625" cy="36567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571500" y="5812035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A Hidra apresenta crescimento consistente nos últimos 6 meses — exigindo ação tática imediata.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762000" y="1649610"/>
            <a:ext cx="2238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VOLUME TOTAL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762000" y="1859160"/>
            <a:ext cx="22383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R$ 69,9M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3571875" y="1649610"/>
            <a:ext cx="2238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SHIELD SHARE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3571875" y="1859160"/>
            <a:ext cx="22383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51,9%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6381750" y="1649610"/>
            <a:ext cx="2238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CONTRATOS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6381750" y="1859160"/>
            <a:ext cx="22383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5.908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9191625" y="1649610"/>
            <a:ext cx="2238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RISCO (NPL)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9191625" y="1859160"/>
            <a:ext cx="22383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A623"/>
                </a:solidFill>
                <a:latin typeface="Orbitron"/>
                <a:ea typeface="Orbitron"/>
                <a:cs typeface="Orbitron"/>
                <a:sym typeface="Orbitron"/>
              </a:rPr>
              <a:t>0,57%</a:t>
            </a:r>
            <a:endParaRPr/>
          </a:p>
        </p:txBody>
      </p:sp>
      <p:pic>
        <p:nvPicPr>
          <p:cNvPr id="185" name="Google Shape;18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9500" y="2763198"/>
            <a:ext cx="8045951" cy="2668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92560"/>
            <a:ext cx="533400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140523"/>
            <a:ext cx="5334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762000" y="571500"/>
            <a:ext cx="114014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DOMÍNIO EM 5 DE 6 CATEGORIAS — EXCETO SEGUROS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571500" y="571500"/>
            <a:ext cx="47625" cy="36567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571500" y="1987748"/>
            <a:ext cx="5334000" cy="2962275"/>
          </a:xfrm>
          <a:prstGeom prst="roundRect">
            <a:avLst>
              <a:gd fmla="val 0" name="adj"/>
            </a:avLst>
          </a:prstGeom>
          <a:solidFill>
            <a:srgbClr val="1E2235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6" name="Google Shape;196;p18"/>
          <p:cNvGraphicFramePr/>
          <p:nvPr/>
        </p:nvGraphicFramePr>
        <p:xfrm>
          <a:off x="571500" y="19877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{CA4E5709-F787-43BE-B9B3-DBB270A72D56}</a:tableStyleId>
              </a:tblPr>
              <a:tblGrid>
                <a:gridCol w="2360125"/>
                <a:gridCol w="1589025"/>
                <a:gridCol w="1384850"/>
              </a:tblGrid>
              <a:tr h="49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235"/>
                          </a:solidFill>
                          <a:latin typeface="Orbitron"/>
                          <a:ea typeface="Orbitron"/>
                          <a:cs typeface="Orbitron"/>
                          <a:sym typeface="Orbitron"/>
                        </a:rPr>
                        <a:t>CATEGORIA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235"/>
                          </a:solidFill>
                          <a:latin typeface="Orbitron"/>
                          <a:ea typeface="Orbitron"/>
                          <a:cs typeface="Orbitron"/>
                          <a:sym typeface="Orbitron"/>
                        </a:rPr>
                        <a:t>SHIELD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235"/>
                          </a:solidFill>
                          <a:latin typeface="Orbitron"/>
                          <a:ea typeface="Orbitron"/>
                          <a:cs typeface="Orbitron"/>
                          <a:sym typeface="Orbitron"/>
                        </a:rPr>
                        <a:t>HIDRA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E5FF"/>
                    </a:solidFill>
                  </a:tcPr>
                </a:tc>
              </a:tr>
              <a:tr h="49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Empréstimo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54,2%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45,8%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Financiamento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1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54,2%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1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45,8%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150"/>
                    </a:solidFill>
                  </a:tcPr>
                </a:tc>
              </a:tr>
              <a:tr h="49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53,4%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46,6%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Consórcio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1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51,3%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1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48,7%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150"/>
                    </a:solidFill>
                  </a:tcPr>
                </a:tc>
              </a:tr>
              <a:tr h="493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0525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Seguro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48,2%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0525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51,8%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" name="Google Shape;197;p18"/>
          <p:cNvSpPr txBox="1"/>
          <p:nvPr/>
        </p:nvSpPr>
        <p:spPr>
          <a:xfrm>
            <a:off x="6286500" y="4926210"/>
            <a:ext cx="533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Evolução Mensal do Saldo (Shield Cyan vs Hidra Red)</a:t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571500" y="2954535"/>
            <a:ext cx="2360116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2931616" y="2954535"/>
            <a:ext cx="1589037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4520654" y="2954535"/>
            <a:ext cx="1384845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571500" y="3449835"/>
            <a:ext cx="2360116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2931616" y="3449835"/>
            <a:ext cx="1589037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4520654" y="3449835"/>
            <a:ext cx="1384845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571500" y="3945135"/>
            <a:ext cx="2360116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2931616" y="3945135"/>
            <a:ext cx="1589037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4520654" y="3945135"/>
            <a:ext cx="1384845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571500" y="4440435"/>
            <a:ext cx="2360116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2931616" y="4440435"/>
            <a:ext cx="1589037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4520654" y="4440435"/>
            <a:ext cx="1384845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571500" y="4935735"/>
            <a:ext cx="2360116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2931616" y="4935735"/>
            <a:ext cx="1589037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4520654" y="4935735"/>
            <a:ext cx="1384845" cy="9525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4554735"/>
            <a:ext cx="533400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9"/>
          <p:cNvSpPr txBox="1"/>
          <p:nvPr/>
        </p:nvSpPr>
        <p:spPr>
          <a:xfrm>
            <a:off x="762000" y="571500"/>
            <a:ext cx="114014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FORTALEZAS DA SHIELD VS. AVANÇO DA HIDRA</a:t>
            </a:r>
            <a:endParaRPr/>
          </a:p>
        </p:txBody>
      </p:sp>
      <p:sp>
        <p:nvSpPr>
          <p:cNvPr id="220" name="Google Shape;220;p19"/>
          <p:cNvSpPr/>
          <p:nvPr/>
        </p:nvSpPr>
        <p:spPr>
          <a:xfrm>
            <a:off x="571500" y="571500"/>
            <a:ext cx="47625" cy="36567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6286500" y="2535435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Shield mantém hegemonia em Salvador, Brasília e Belo Horizonte.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6286500" y="3192660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Hidra avança em Nova York com 1,72% de inadimplência (ponto crítico).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6286500" y="3849885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Curitiba e Recife: Hidra domina Quinjet com até 85,7% de share.</a:t>
            </a:r>
            <a:endParaRPr/>
          </a:p>
        </p:txBody>
      </p:sp>
      <p:pic>
        <p:nvPicPr>
          <p:cNvPr descr="image.png" id="224" name="Google Shape;22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78298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23552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389274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1500" y="2064425"/>
            <a:ext cx="5487550" cy="347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92510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44960"/>
            <a:ext cx="533400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 txBox="1"/>
          <p:nvPr/>
        </p:nvSpPr>
        <p:spPr>
          <a:xfrm>
            <a:off x="762000" y="571500"/>
            <a:ext cx="114014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A FRAGILIDADE DO CRESCIMENTO DA HIDRA</a:t>
            </a: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571500" y="571500"/>
            <a:ext cx="47625" cy="36567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6524625" y="2954535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Hidra opera quase exclusivamente na </a:t>
            </a:r>
            <a:r>
              <a:rPr b="1" i="0" lang="en-US" sz="1350" u="none" cap="none" strike="noStrike">
                <a:solidFill>
                  <a:srgbClr val="E05252"/>
                </a:solidFill>
                <a:latin typeface="Inter"/>
                <a:ea typeface="Inter"/>
                <a:cs typeface="Inter"/>
                <a:sym typeface="Inter"/>
              </a:rPr>
              <a:t>"Zona de Perigo"</a:t>
            </a: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(risk score &gt; 0,10), focando em subprime agressivo.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6524625" y="4392810"/>
            <a:ext cx="4857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5A623"/>
                </a:solidFill>
                <a:latin typeface="Inter"/>
                <a:ea typeface="Inter"/>
                <a:cs typeface="Inter"/>
                <a:sym typeface="Inter"/>
              </a:rPr>
              <a:t>HIDRA É 55% MAIS ARRISCADA QUE O SHIELD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6524625" y="3659385"/>
            <a:ext cx="2333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SCORE HIDRA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6524625" y="3868935"/>
            <a:ext cx="23336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05252"/>
                </a:solidFill>
                <a:latin typeface="Orbitron"/>
                <a:ea typeface="Orbitron"/>
                <a:cs typeface="Orbitron"/>
                <a:sym typeface="Orbitron"/>
              </a:rPr>
              <a:t>0,140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9048750" y="3659385"/>
            <a:ext cx="2333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SCORE SHIELD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9048750" y="3868935"/>
            <a:ext cx="23336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0,090</a:t>
            </a:r>
            <a:endParaRPr/>
          </a:p>
        </p:txBody>
      </p:sp>
      <p:pic>
        <p:nvPicPr>
          <p:cNvPr id="243" name="Google Shape;24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7250" y="2151187"/>
            <a:ext cx="4762500" cy="31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49748"/>
            <a:ext cx="3549699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1699" y="2749748"/>
            <a:ext cx="3568749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70949" y="2749748"/>
            <a:ext cx="3549699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 txBox="1"/>
          <p:nvPr/>
        </p:nvSpPr>
        <p:spPr>
          <a:xfrm>
            <a:off x="762000" y="571500"/>
            <a:ext cx="114014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OPORTUNIDADES: ATACAR OU DEFENDER?</a:t>
            </a: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571500" y="571500"/>
            <a:ext cx="47625" cy="36567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782795" y="3692723"/>
            <a:ext cx="312710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ATACAR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857250" y="4054673"/>
            <a:ext cx="29781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RJ e Knowhere: Hidra com inadimplência &gt; 13% e clientes insatisfeitos.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4532519" y="3702248"/>
            <a:ext cx="312710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DEFENDER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4606974" y="4064198"/>
            <a:ext cx="29781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São Paulo (2,33%) e Wakanda (1,80%): Áreas Shield com risco crescente.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8282244" y="3692723"/>
            <a:ext cx="312710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A623"/>
                </a:solidFill>
                <a:latin typeface="Orbitron"/>
                <a:ea typeface="Orbitron"/>
                <a:cs typeface="Orbitron"/>
                <a:sym typeface="Orbitron"/>
              </a:rPr>
              <a:t>REDUZIR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8356699" y="4054673"/>
            <a:ext cx="29781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Curitiba e Recife: Reconquistar Financiamento com oferta de produto premium.</a:t>
            </a:r>
            <a:endParaRPr/>
          </a:p>
        </p:txBody>
      </p:sp>
      <p:pic>
        <p:nvPicPr>
          <p:cNvPr descr="image.png" id="260" name="Google Shape;26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55775" y="307359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0" y="308312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07599" y="3073598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66342"/>
            <a:ext cx="542925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166342"/>
            <a:ext cx="542925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04667"/>
            <a:ext cx="5429250" cy="1433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4004667"/>
            <a:ext cx="5429250" cy="143351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 txBox="1"/>
          <p:nvPr/>
        </p:nvSpPr>
        <p:spPr>
          <a:xfrm>
            <a:off x="762000" y="571500"/>
            <a:ext cx="114014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O QUE FAZER A PARTIR DE AGORA</a:t>
            </a:r>
            <a:endParaRPr/>
          </a:p>
        </p:txBody>
      </p:sp>
      <p:sp>
        <p:nvSpPr>
          <p:cNvPr id="273" name="Google Shape;273;p22"/>
          <p:cNvSpPr/>
          <p:nvPr/>
        </p:nvSpPr>
        <p:spPr>
          <a:xfrm>
            <a:off x="571500" y="571500"/>
            <a:ext cx="47625" cy="36567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857250" y="2575917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5252"/>
                </a:solidFill>
                <a:latin typeface="Inter"/>
                <a:ea typeface="Inter"/>
                <a:cs typeface="Inter"/>
                <a:sym typeface="Inter"/>
              </a:rPr>
              <a:t>P1: SEGUROS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857250" y="3004542"/>
            <a:ext cx="49053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Campanha agressiva para recuperar share. Meta: retornar a 50%+ em 90 dias.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6477000" y="2575917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5252"/>
                </a:solidFill>
                <a:latin typeface="Inter"/>
                <a:ea typeface="Inter"/>
                <a:cs typeface="Inter"/>
                <a:sym typeface="Inter"/>
              </a:rPr>
              <a:t>P1: QUALIDADE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6477000" y="3004542"/>
            <a:ext cx="49053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Zero registros inválidos em produção e auditoria nos 514 contratos críticos.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857250" y="4414242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5A623"/>
                </a:solidFill>
                <a:latin typeface="Inter"/>
                <a:ea typeface="Inter"/>
                <a:cs typeface="Inter"/>
                <a:sym typeface="Inter"/>
              </a:rPr>
              <a:t>P2: ATACAR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857250" y="4842867"/>
            <a:ext cx="4905375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Foco em Rio de Janeiro com Seguro e Cartão Spider onde a Hidra falha.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6477000" y="4414242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5A623"/>
                </a:solidFill>
                <a:latin typeface="Inter"/>
                <a:ea typeface="Inter"/>
                <a:cs typeface="Inter"/>
                <a:sym typeface="Inter"/>
              </a:rPr>
              <a:t>P2: RECUPERAR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6477000" y="4842867"/>
            <a:ext cx="4905375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Força comercial em Curitiba e Recife para Financiamento Quinjet.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6" name="Google Shape;28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935485"/>
            <a:ext cx="533400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40335"/>
            <a:ext cx="16002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38400" y="3640335"/>
            <a:ext cx="16002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05300" y="3640335"/>
            <a:ext cx="160020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3"/>
          <p:cNvSpPr txBox="1"/>
          <p:nvPr/>
        </p:nvSpPr>
        <p:spPr>
          <a:xfrm>
            <a:off x="762000" y="571500"/>
            <a:ext cx="114014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PARA O TIME DE DADOS — 90 DIAS</a:t>
            </a:r>
            <a:endParaRPr/>
          </a:p>
        </p:txBody>
      </p:sp>
      <p:sp>
        <p:nvSpPr>
          <p:cNvPr id="292" name="Google Shape;292;p23"/>
          <p:cNvSpPr/>
          <p:nvPr/>
        </p:nvSpPr>
        <p:spPr>
          <a:xfrm>
            <a:off x="571500" y="571500"/>
            <a:ext cx="47625" cy="36567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 txBox="1"/>
          <p:nvPr/>
        </p:nvSpPr>
        <p:spPr>
          <a:xfrm>
            <a:off x="6524625" y="3173610"/>
            <a:ext cx="510063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ARQUITETURA</a:t>
            </a:r>
            <a:endParaRPr/>
          </a:p>
        </p:txBody>
      </p:sp>
      <p:sp>
        <p:nvSpPr>
          <p:cNvPr id="294" name="Google Shape;294;p23"/>
          <p:cNvSpPr/>
          <p:nvPr/>
        </p:nvSpPr>
        <p:spPr>
          <a:xfrm>
            <a:off x="571500" y="3983235"/>
            <a:ext cx="5334000" cy="19050"/>
          </a:xfrm>
          <a:prstGeom prst="rect">
            <a:avLst/>
          </a:prstGeom>
          <a:solidFill>
            <a:srgbClr val="2A31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 txBox="1"/>
          <p:nvPr/>
        </p:nvSpPr>
        <p:spPr>
          <a:xfrm>
            <a:off x="6810375" y="352603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6905625" y="3526035"/>
            <a:ext cx="4476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Engine rules.json - Flexibilidade total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6810375" y="378321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6905625" y="3783210"/>
            <a:ext cx="4476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DuckDB - Zero infraestrutura, alta performance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6810375" y="404038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6905625" y="4040385"/>
            <a:ext cx="4476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Dashboard Estático - Offline e Distribuível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1066800" y="3802260"/>
            <a:ext cx="609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30 DIAS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2933700" y="3802260"/>
            <a:ext cx="609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60 DIAS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4800600" y="3802260"/>
            <a:ext cx="609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90 DIAS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8" name="Google Shape;3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4"/>
          <p:cNvSpPr txBox="1"/>
          <p:nvPr/>
        </p:nvSpPr>
        <p:spPr>
          <a:xfrm>
            <a:off x="3280648" y="1762125"/>
            <a:ext cx="5630703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CONCLUSÃO DA MISSÃO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3343275" y="2847975"/>
            <a:ext cx="5505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Dados Limpos + Arquitetura Robusta + Inteligência</a:t>
            </a:r>
            <a:endParaRPr/>
          </a:p>
        </p:txBody>
      </p:sp>
      <p:sp>
        <p:nvSpPr>
          <p:cNvPr id="311" name="Google Shape;311;p24"/>
          <p:cNvSpPr txBox="1"/>
          <p:nvPr/>
        </p:nvSpPr>
        <p:spPr>
          <a:xfrm>
            <a:off x="2490787" y="3609975"/>
            <a:ext cx="72104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= VANTAGEM COMPETITIVA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3886200" y="4667250"/>
            <a:ext cx="4419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"O Banco Shield está pronto para retomar o mercado."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7" name="Google Shape;31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5"/>
          <p:cNvSpPr txBox="1"/>
          <p:nvPr/>
        </p:nvSpPr>
        <p:spPr>
          <a:xfrm>
            <a:off x="4275772" y="1919287"/>
            <a:ext cx="364045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DÚVIDAS?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4838700" y="4367212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Obrigado pela atenção.</a:t>
            </a:r>
            <a:endParaRPr/>
          </a:p>
        </p:txBody>
      </p:sp>
      <p:pic>
        <p:nvPicPr>
          <p:cNvPr descr="image.png" id="320" name="Google Shape;32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0687" y="2928937"/>
            <a:ext cx="1190625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